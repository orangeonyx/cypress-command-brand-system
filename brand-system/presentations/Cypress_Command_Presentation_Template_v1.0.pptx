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c8664fa1534085" /><Relationship Type="http://schemas.openxmlformats.org/officeDocument/2006/relationships/extended-properties" Target="/docProps/app.xml" Id="R8838f5e556f04511" /><Relationship Type="http://schemas.openxmlformats.org/officeDocument/2006/relationships/officeDocument" Target="/ppt/presentation.xml" Id="R7c39c2b622144dc7" /></Relationships>
</file>

<file path=ppt/presentation.xml><?xml version="1.0" encoding="utf-8"?>
<p:presentation xmlns:p="http://schemas.openxmlformats.org/presentationml/2006/main">
  <p:sldMasterIdLst>
    <p:sldMasterId xmlns:r="http://schemas.openxmlformats.org/officeDocument/2006/relationships" id="2147483648" r:id="R5862a2c090224990"/>
  </p:sldMasterIdLst>
  <p:notesMasterIdLst>
    <p:notesMasterId xmlns:r="http://schemas.openxmlformats.org/officeDocument/2006/relationships" r:id="R746a40831c8e44f0"/>
  </p:notesMasterIdLst>
  <p:sldIdLst>
    <p:sldId xmlns:r="http://schemas.openxmlformats.org/officeDocument/2006/relationships" id="256" r:id="R2f710f7220214f6f"/>
    <p:sldId xmlns:r="http://schemas.openxmlformats.org/officeDocument/2006/relationships" id="257" r:id="R6b7906985c7d4ec6"/>
    <p:sldId xmlns:r="http://schemas.openxmlformats.org/officeDocument/2006/relationships" id="258" r:id="Rdd8b486aade94a3f"/>
    <p:sldId xmlns:r="http://schemas.openxmlformats.org/officeDocument/2006/relationships" id="259" r:id="R1aa64752555d4a0a"/>
    <p:sldId xmlns:r="http://schemas.openxmlformats.org/officeDocument/2006/relationships" id="260" r:id="Racfadb474597412e"/>
    <p:sldId xmlns:r="http://schemas.openxmlformats.org/officeDocument/2006/relationships" id="261" r:id="R269078090d7d4ad2"/>
    <p:sldId xmlns:r="http://schemas.openxmlformats.org/officeDocument/2006/relationships" id="262" r:id="Rda765162d7784183"/>
    <p:sldId xmlns:r="http://schemas.openxmlformats.org/officeDocument/2006/relationships" id="263" r:id="R6b6fbdfc610849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34f6b5454442a9" /><Relationship Type="http://schemas.openxmlformats.org/officeDocument/2006/relationships/slideMaster" Target="/ppt/slideMasters/slideMaster1.xml" Id="R5862a2c090224990" /><Relationship Type="http://schemas.openxmlformats.org/officeDocument/2006/relationships/notesMaster" Target="/ppt/notesMasters/notesMaster1.xml" Id="R746a40831c8e44f0" /><Relationship Type="http://schemas.openxmlformats.org/officeDocument/2006/relationships/presProps" Target="/ppt/presProps.xml" Id="R21c2917f3e754ab8" /><Relationship Type="http://schemas.openxmlformats.org/officeDocument/2006/relationships/tableStyles" Target="/ppt/tableStyles.xml" Id="R4768b527c8c64d4d" /><Relationship Type="http://schemas.openxmlformats.org/officeDocument/2006/relationships/slide" Target="/ppt/slides/slide1.xml" Id="R2f710f7220214f6f" /><Relationship Type="http://schemas.openxmlformats.org/officeDocument/2006/relationships/slide" Target="/ppt/slides/slide2.xml" Id="R6b7906985c7d4ec6" /><Relationship Type="http://schemas.openxmlformats.org/officeDocument/2006/relationships/slide" Target="/ppt/slides/slide3.xml" Id="Rdd8b486aade94a3f" /><Relationship Type="http://schemas.openxmlformats.org/officeDocument/2006/relationships/slide" Target="/ppt/slides/slide4.xml" Id="R1aa64752555d4a0a" /><Relationship Type="http://schemas.openxmlformats.org/officeDocument/2006/relationships/slide" Target="/ppt/slides/slide5.xml" Id="Racfadb474597412e" /><Relationship Type="http://schemas.openxmlformats.org/officeDocument/2006/relationships/slide" Target="/ppt/slides/slide6.xml" Id="R269078090d7d4ad2" /><Relationship Type="http://schemas.openxmlformats.org/officeDocument/2006/relationships/slide" Target="/ppt/slides/slide7.xml" Id="Rda765162d7784183" /><Relationship Type="http://schemas.openxmlformats.org/officeDocument/2006/relationships/slide" Target="/ppt/slides/slide8.xml" Id="R6b6fbdfc6108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62e1cfa9a745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ypress Command 04C">
      <a:dk1>
        <a:srgbClr val="0A1F16"/>
      </a:dk1>
      <a:lt1>
        <a:srgbClr val="FFFFFF"/>
      </a:lt1>
      <a:dk2>
        <a:srgbClr val="1E4D3A"/>
      </a:dk2>
      <a:lt2>
        <a:srgbClr val="F3EDE0"/>
      </a:lt2>
      <a:accent1>
        <a:srgbClr val="1E4D3A"/>
      </a:accent1>
      <a:accent2>
        <a:srgbClr val="2F6B4E"/>
      </a:accent2>
      <a:accent3>
        <a:srgbClr val="D97706"/>
      </a:accent3>
      <a:accent4>
        <a:srgbClr val="0A1F16"/>
      </a:accent4>
      <a:accent5>
        <a:srgbClr val="F3EDE0"/>
      </a:accent5>
      <a:accent6>
        <a:srgbClr val="2F6B4E"/>
      </a:accent6>
      <a:hlink>
        <a:srgbClr val="1E4D3A"/>
      </a:hlink>
      <a:folHlink>
        <a:srgbClr val="2F6B4E"/>
      </a:folHlink>
    </a:clrScheme>
    <a:fontScheme name="Office">
      <a:majorFont>
        <a:latin typeface="Calibri Light"/>
        <a:ea typeface="Calibri Light"/>
        <a:cs typeface="Calibri Light"/>
      </a:majorFont>
      <a:minorFont>
        <a:latin typeface="Calibri"/>
        <a:ea typeface="Calibri"/>
        <a:cs typeface="Calibri"/>
      </a:minorFont>
    </a:fontScheme>
    <a:fmtScheme name="Cypress Command 04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2a89bf4b9f474b" /><Relationship Type="http://schemas.openxmlformats.org/officeDocument/2006/relationships/notesMaster" Target="/ppt/notesMasters/notesMaster1.xml" Id="R1ad4c331647944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6927730094361" /><Relationship Type="http://schemas.openxmlformats.org/officeDocument/2006/relationships/notesMaster" Target="/ppt/notesMasters/notesMaster1.xml" Id="Rb7c645e3b2414d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41ede89ba44f29" /><Relationship Type="http://schemas.openxmlformats.org/officeDocument/2006/relationships/notesMaster" Target="/ppt/notesMasters/notesMaster1.xml" Id="Rb4a898363e7841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79e3133a8d4ffa" /><Relationship Type="http://schemas.openxmlformats.org/officeDocument/2006/relationships/notesMaster" Target="/ppt/notesMasters/notesMaster1.xml" Id="R8a662b20afc74b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b2d0f530f64419" /><Relationship Type="http://schemas.openxmlformats.org/officeDocument/2006/relationships/notesMaster" Target="/ppt/notesMasters/notesMaster1.xml" Id="R2d3f9cd5fd664c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bcbdae1aeb4fd4" /><Relationship Type="http://schemas.openxmlformats.org/officeDocument/2006/relationships/notesMaster" Target="/ppt/notesMasters/notesMaster1.xml" Id="Rfa1c70c5d13a40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ab1054ea404d40" /><Relationship Type="http://schemas.openxmlformats.org/officeDocument/2006/relationships/notesMaster" Target="/ppt/notesMasters/notesMaster1.xml" Id="Ra6ea9520bca540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8d5302b26d4a45" /><Relationship Type="http://schemas.openxmlformats.org/officeDocument/2006/relationships/notesMaster" Target="/ppt/notesMasters/notesMaster1.xml" Id="R68d6643a4b7242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layout. Replace bracketed text. Keep the title to two lines. Use the existing logo as supplied.</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Duplicate this slide between major sections. Replace the section number and title.</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Executive summary layout. Replace all bracketed text with verified information. Use concise narrative statements.</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layout. Keep the same criteria and units in each column. Add source detail in speaker notes for claims and numbers.</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PowerPoint table. Click a cell to enter values. Add or remove rows through Table Layout. State units and source. No example business data is included.</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with neutral illustrative values 1, 2 and 3 only. Use Chart Design &gt; Edit Data to change the embedded workbook. Replace examples, units, labels and source before presenting.</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 placeholder layout. Replace the left frame and its placeholder label with an approved photograph. Preserve the image aspect ratio or crop without removing meaningful evidence. Add photo rights, source and any result support here.</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layout. Enter the agreed action and only verified contact details. Delete unused placeholders. Adam confirmed ownership of cypresscommand.com. The domain is included as a confirmed brand contact field, without asserting that a website is live or email is configured.</a:t>
            </a:r>
          </a:p>
          <a:p xmlns:a="http://schemas.openxmlformats.org/drawingml/2006/main">
            <a:r>
              <a:t/>
            </a:r>
          </a:p>
          <a:p xmlns:a="http://schemas.openxmlformats.org/drawingml/2006/main">
            <a:r>
              <a:t>Brand source: approved Cypress_Command_04C_Adoption_Kit. Logos embedded unchanged from its PNG/SVG masters. This template asserts no financial or operational company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49271e9397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9ebb6a78684e3c" /><Relationship Type="http://schemas.openxmlformats.org/officeDocument/2006/relationships/slideLayout" Target="/ppt/slideLayouts/slideLayout1.xml" Id="R0f18d005173f4d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8d005173f4d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ypress Command 04C">
      <a:dk1>
        <a:srgbClr val="0A1F16"/>
      </a:dk1>
      <a:lt1>
        <a:srgbClr val="FFFFFF"/>
      </a:lt1>
      <a:dk2>
        <a:srgbClr val="1E4D3A"/>
      </a:dk2>
      <a:lt2>
        <a:srgbClr val="F3EDE0"/>
      </a:lt2>
      <a:accent1>
        <a:srgbClr val="1E4D3A"/>
      </a:accent1>
      <a:accent2>
        <a:srgbClr val="2F6B4E"/>
      </a:accent2>
      <a:accent3>
        <a:srgbClr val="D97706"/>
      </a:accent3>
      <a:accent4>
        <a:srgbClr val="0A1F16"/>
      </a:accent4>
      <a:accent5>
        <a:srgbClr val="F3EDE0"/>
      </a:accent5>
      <a:accent6>
        <a:srgbClr val="2F6B4E"/>
      </a:accent6>
      <a:hlink>
        <a:srgbClr val="1E4D3A"/>
      </a:hlink>
      <a:folHlink>
        <a:srgbClr val="2F6B4E"/>
      </a:folHlink>
    </a:clrScheme>
    <a:fontScheme name="Office">
      <a:majorFont>
        <a:latin typeface="Calibri Light"/>
        <a:ea typeface="Calibri Light"/>
        <a:cs typeface="Calibri Light"/>
      </a:majorFont>
      <a:minorFont>
        <a:latin typeface="Calibri"/>
        <a:ea typeface="Calibri"/>
        <a:cs typeface="Calibri"/>
      </a:minorFont>
    </a:fontScheme>
    <a:fmtScheme name="Cypress Command 04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b9bb6772f944dd" /><Relationship Type="http://schemas.openxmlformats.org/officeDocument/2006/relationships/image" Target="/ppt/media/image.png" Id="Rb85e7bead4bb4a28" /><Relationship Type="http://schemas.openxmlformats.org/officeDocument/2006/relationships/image" Target="/ppt/media/image2.png" Id="Rc39d5a5440a949a9" /><Relationship Type="http://schemas.openxmlformats.org/officeDocument/2006/relationships/notesSlide" Target="/ppt/notesSlides/notesSlide1.xml" Id="R0e6b7bdc119443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92ad95393d462b" /><Relationship Type="http://schemas.openxmlformats.org/officeDocument/2006/relationships/image" Target="/ppt/media/image3.png" Id="R7665e90ca876462c" /><Relationship Type="http://schemas.openxmlformats.org/officeDocument/2006/relationships/notesSlide" Target="/ppt/notesSlides/notesSlide2.xml" Id="Rd23f998ad15845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86e53841844d46" /><Relationship Type="http://schemas.openxmlformats.org/officeDocument/2006/relationships/image" Target="/ppt/media/image4.png" Id="Rf625d1a6491a4d99" /><Relationship Type="http://schemas.openxmlformats.org/officeDocument/2006/relationships/notesSlide" Target="/ppt/notesSlides/notesSlide3.xml" Id="Re4f08e7aacd54c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96badb66954c3a" /><Relationship Type="http://schemas.openxmlformats.org/officeDocument/2006/relationships/image" Target="/ppt/media/image5.png" Id="Rb606f792ee454bf2" /><Relationship Type="http://schemas.openxmlformats.org/officeDocument/2006/relationships/notesSlide" Target="/ppt/notesSlides/notesSlide4.xml" Id="Raac0381cc92045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81871ebf8840b8" /><Relationship Type="http://schemas.openxmlformats.org/officeDocument/2006/relationships/image" Target="/ppt/media/image6.png" Id="Rb06ad8533cab4254" /><Relationship Type="http://schemas.openxmlformats.org/officeDocument/2006/relationships/notesSlide" Target="/ppt/notesSlides/notesSlide5.xml" Id="Rc4e6235852fc4f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e556d185034d77" /><Relationship Type="http://schemas.openxmlformats.org/officeDocument/2006/relationships/chart" Target="/ppt/slides/charts/chart1.xml" Id="R29fbaeffbc41413a" /><Relationship Type="http://schemas.openxmlformats.org/officeDocument/2006/relationships/image" Target="/ppt/media/image7.png" Id="R46c9f295a27c4e29" /><Relationship Type="http://schemas.openxmlformats.org/officeDocument/2006/relationships/notesSlide" Target="/ppt/notesSlides/notesSlide6.xml" Id="Ra84ff7a4197e4b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9d447cc5f04d21" /><Relationship Type="http://schemas.openxmlformats.org/officeDocument/2006/relationships/image" Target="/ppt/media/image8.png" Id="Rb36b5f8215d04685" /><Relationship Type="http://schemas.openxmlformats.org/officeDocument/2006/relationships/image" Target="/ppt/media/image.svg" Id="Rf5ecfbfbf0164519" /><Relationship Type="http://schemas.openxmlformats.org/officeDocument/2006/relationships/image" Target="/ppt/media/image9.png" Id="Rcfbdcbdd34874852" /><Relationship Type="http://schemas.openxmlformats.org/officeDocument/2006/relationships/notesSlide" Target="/ppt/notesSlides/notesSlide7.xml" Id="R17d0efb6bc8340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4fdf62e961451c" /><Relationship Type="http://schemas.openxmlformats.org/officeDocument/2006/relationships/image" Target="/ppt/media/image10.png" Id="R6565c2d55ba745cf" /><Relationship Type="http://schemas.openxmlformats.org/officeDocument/2006/relationships/notesSlide" Target="/ppt/notesSlides/notesSlide8.xml" Id="R8d18ecd8f1cc4c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Example value</c:v>
          </c:tx>
          <c:spPr>
            <a:solidFill xmlns:a="http://schemas.openxmlformats.org/drawingml/2006/main">
              <a:srgbClr val="1E4D3A"/>
            </a:solidFill>
          </c:spPr>
          <c:cat>
            <c:strRef>
              <c:f>'Chart Data'!$A$2:$A$4</c:f>
              <c:strCache>
                <c:ptCount val="3"/>
                <c:pt idx="0">
                  <c:v>Example A</c:v>
                </c:pt>
                <c:pt idx="1">
                  <c:v>Example B</c:v>
                </c:pt>
                <c:pt idx="2">
                  <c:v>Example C</c:v>
                </c:pt>
              </c:strCache>
            </c:strRef>
          </c:cat>
          <c:val>
            <c:numRef>
              <c:f>'Chart Data'!$B$2:$B$4</c:f>
              <c:numCache>
                <c:formatCode>0</c:formatCode>
                <c:ptCount val="3"/>
                <c:pt idx="0">
                  <c:v>1</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0A1F16"/>
                  </a:solidFill>
                  <a:latin typeface="Cypress Inter"/>
                  <a:ea typeface="Cypress Inter"/>
                  <a:cs typeface="Cypress Inter"/>
                </a:defRPr>
              </a:pPr>
            </a:p>
          </c:txPr>
          <c:dLblPos val="outEnd"/>
          <c:showLegendKey val="0"/>
          <c:showVal val="1"/>
          <c:showCatName val="0"/>
          <c:showSerName val="0"/>
          <c:showPercent val="0"/>
          <c:showBubbleSize val="0"/>
          <c:showLeaderLines val="0"/>
        </c:dLbls>
        <c:gapWidth val="1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1E4D3A"/>
            </a:solidFill>
          </a:ln>
        </c:spPr>
        <c:txPr>
          <a:bodyPr xmlns:a="http://schemas.openxmlformats.org/drawingml/2006/main" anchorCtr="1"/>
          <a:lstStyle xmlns:a="http://schemas.openxmlformats.org/drawingml/2006/main"/>
          <a:p xmlns:a="http://schemas.openxmlformats.org/drawingml/2006/main">
            <a:pPr>
              <a:defRPr sz="1650">
                <a:solidFill>
                  <a:srgbClr val="0A1F16"/>
                </a:solidFill>
                <a:latin typeface="Cypress Inter"/>
                <a:ea typeface="Cypress Inter"/>
                <a:cs typeface="Cypress Inter"/>
              </a:defRPr>
            </a:pPr>
          </a:p>
        </c:txPr>
        <c:crossAx val="48672768"/>
      </c:catAx>
      <c:valAx>
        <c:axId val="48672768"/>
        <c:scaling>
          <c:orientation val="minMax"/>
          <c:max val="4"/>
          <c:min val="0"/>
        </c:scaling>
        <c:delete val="0"/>
        <c:axPos val="l"/>
        <c:majorGridlines>
          <c:spPr>
            <a:ln xmlns:a="http://schemas.openxmlformats.org/drawingml/2006/main" w="6668">
              <a:solidFill>
                <a:srgbClr val="CED5C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0A1F16"/>
                </a:solidFill>
                <a:latin typeface="Cypress Inter"/>
                <a:ea typeface="Cypress Inter"/>
                <a:cs typeface="Cypress Inter"/>
              </a:defRPr>
            </a:pPr>
          </a:p>
        </c:txPr>
        <c:crossAx val="48650112"/>
        <c:crossBetween val="between"/>
        <c:majorUnit val="1"/>
      </c:valAx>
      <c:spPr>
        <a:solidFill xmlns:a="http://schemas.openxmlformats.org/drawingml/2006/main">
          <a:srgbClr val="F3EDE0"/>
        </a:solidFill>
        <a:ln xmlns:a="http://schemas.openxmlformats.org/drawingml/2006/main" w="0">
          <a:noFill/>
        </a:ln>
      </c:spPr>
    </c:plotArea>
    <c:plotVisOnly val="1"/>
  </c:chart>
  <c:spPr>
    <a:solidFill xmlns:a="http://schemas.openxmlformats.org/drawingml/2006/main">
      <a:srgbClr val="F3EDE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85e7bead4bb4a28"/>
          <a:stretch xmlns:a="http://schemas.openxmlformats.org/drawingml/2006/main"/>
        </p:blipFill>
        <p:spPr>
          <a:xfrm xmlns:a="http://schemas.openxmlformats.org/drawingml/2006/main">
            <a:off x="514350" y="419100"/>
            <a:ext cx="3314700" cy="1160145"/>
          </a:xfrm>
          <a:prstGeom xmlns:a="http://schemas.openxmlformats.org/drawingml/2006/main" prst="rect">
            <a:avLst/>
          </a:prstGeom>
        </p:spPr>
      </p:pic>
      <p:sp>
        <p:nvSpPr>
          <p:cNvPr id="2" name="presentation-title">
            <a:extLst xmlns:a="http://schemas.openxmlformats.org/drawingml/2006/main">
              <a:ext uri="{FF2B5EF4-FFF2-40B4-BE49-F238E27FC236}">
                <a16:creationId xmlns:a16="http://schemas.microsoft.com/office/drawing/2014/main" id="{D463FFC1-823A-440A-96A1-230948F914DF}"/>
              </a:ext>
            </a:extLst>
          </p:cNvPr>
          <p:cNvSpPr>
            <a:spLocks xmlns:a="http://schemas.openxmlformats.org/drawingml/2006/main" noGrp="1"/>
          </p:cNvSpPr>
          <p:nvPr/>
        </p:nvSpPr>
        <p:spPr>
          <a:xfrm xmlns:a="http://schemas.openxmlformats.org/drawingml/2006/main">
            <a:off x="704850" y="2247900"/>
            <a:ext cx="676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0">
                <a:solidFill>
                  <a:srgbClr val="0A1F16"/>
                </a:solidFill>
                <a:latin typeface="Cypress Fraunces"/>
                <a:ea typeface="Cypress Fraunces"/>
                <a:cs typeface="Cypress Fraunces"/>
              </a:defRPr>
            </a:pPr>
            <a:r>
              <a:rPr sz="4800" b="0">
                <a:solidFill>
                  <a:srgbClr val="0A1F16"/>
                </a:solidFill>
                <a:latin typeface="Cypress Fraunces"/>
                <a:ea typeface="Cypress Fraunces"/>
                <a:cs typeface="Cypress Fraunces"/>
              </a:rPr>
              <a:t>[Presentation title]</a:t>
            </a:r>
          </a:p>
        </p:txBody>
      </p:sp>
      <p:sp>
        <p:nvSpPr>
          <p:cNvPr id="3" name="presentation-subtitle">
            <a:extLst xmlns:a="http://schemas.openxmlformats.org/drawingml/2006/main">
              <a:ext uri="{FF2B5EF4-FFF2-40B4-BE49-F238E27FC236}">
                <a16:creationId xmlns:a16="http://schemas.microsoft.com/office/drawing/2014/main" id="{253B37C4-BEEA-4E04-B17F-1DFC63B59F69}"/>
              </a:ext>
            </a:extLst>
          </p:cNvPr>
          <p:cNvSpPr>
            <a:spLocks xmlns:a="http://schemas.openxmlformats.org/drawingml/2006/main" noGrp="1"/>
          </p:cNvSpPr>
          <p:nvPr/>
        </p:nvSpPr>
        <p:spPr>
          <a:xfrm xmlns:a="http://schemas.openxmlformats.org/drawingml/2006/main">
            <a:off x="723900" y="41148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A1F16"/>
                </a:solidFill>
                <a:latin typeface="Cypress Inter"/>
                <a:ea typeface="Cypress Inter"/>
                <a:cs typeface="Cypress Inter"/>
              </a:defRPr>
            </a:pPr>
            <a:r>
              <a:rPr sz="2100" b="0">
                <a:solidFill>
                  <a:srgbClr val="0A1F16"/>
                </a:solidFill>
                <a:latin typeface="Cypress Inter"/>
                <a:ea typeface="Cypress Inter"/>
                <a:cs typeface="Cypress Inter"/>
              </a:rPr>
              <a:t>[A concise subtitle]</a:t>
            </a:r>
          </a:p>
        </p:txBody>
      </p:sp>
      <p:sp>
        <p:nvSpPr>
          <p:cNvPr id="4" name="presenter-date">
            <a:extLst xmlns:a="http://schemas.openxmlformats.org/drawingml/2006/main">
              <a:ext uri="{FF2B5EF4-FFF2-40B4-BE49-F238E27FC236}">
                <a16:creationId xmlns:a16="http://schemas.microsoft.com/office/drawing/2014/main" id="{C2217D73-00D2-420D-8EB5-81338DDC7B0B}"/>
              </a:ext>
            </a:extLst>
          </p:cNvPr>
          <p:cNvSpPr>
            <a:spLocks xmlns:a="http://schemas.openxmlformats.org/drawingml/2006/main" noGrp="1"/>
          </p:cNvSpPr>
          <p:nvPr/>
        </p:nvSpPr>
        <p:spPr>
          <a:xfrm xmlns:a="http://schemas.openxmlformats.org/drawingml/2006/main">
            <a:off x="733425" y="5219700"/>
            <a:ext cx="742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0A1F16"/>
                </a:solidFill>
                <a:latin typeface="Cypress Inter"/>
                <a:ea typeface="Cypress Inter"/>
                <a:cs typeface="Cypress Inter"/>
              </a:defRPr>
            </a:pPr>
            <a:r>
              <a:rPr sz="1575" b="0">
                <a:solidFill>
                  <a:srgbClr val="0A1F16"/>
                </a:solidFill>
                <a:latin typeface="Cypress Inter"/>
                <a:ea typeface="Cypress Inter"/>
                <a:cs typeface="Cypress Inter"/>
              </a:rPr>
              <a:t>[Presenter name]</a:t>
            </a:r>
          </a:p>
          <a:p xmlns:a="http://schemas.openxmlformats.org/drawingml/2006/main">
            <a:pPr algn="l">
              <a:defRPr sz="1575" b="0">
                <a:solidFill>
                  <a:srgbClr val="0A1F16"/>
                </a:solidFill>
                <a:latin typeface="Cypress Inter"/>
                <a:ea typeface="Cypress Inter"/>
                <a:cs typeface="Cypress Inter"/>
              </a:defRPr>
            </a:pPr>
            <a:r>
              <a:rPr sz="1575" b="0">
                <a:solidFill>
                  <a:srgbClr val="0A1F16"/>
                </a:solidFill>
                <a:latin typeface="Cypress Inter"/>
                <a:ea typeface="Cypress Inter"/>
                <a:cs typeface="Cypress Inter"/>
              </a:rPr>
              <a:t>[Date]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39d5a5440a949a9"/>
          <a:stretch xmlns:a="http://schemas.openxmlformats.org/drawingml/2006/main"/>
        </p:blipFill>
        <p:spPr>
          <a:xfrm xmlns:a="http://schemas.openxmlformats.org/drawingml/2006/main">
            <a:off x="8715375" y="2419350"/>
            <a:ext cx="2286000" cy="2177143"/>
          </a:xfrm>
          <a:prstGeom xmlns:a="http://schemas.openxmlformats.org/drawingml/2006/main" prst="rect">
            <a:avLst/>
          </a:prstGeom>
        </p:spPr>
      </p:pic>
    </p:spTree>
    <p:extLst>
      <p:ext uri="{BB962C8B-B14F-4D97-AF65-F5344CB8AC3E}">
        <p14:creationId xmlns:p14="http://schemas.microsoft.com/office/powerpoint/2010/main" val="1244446898"/>
      </p:ext>
    </p:extLst>
  </p:cSld>
</p:sld>
</file>

<file path=ppt/slides/slide2.xml><?xml version="1.0" encoding="utf-8"?>
<p:sld xmlns:p="http://schemas.openxmlformats.org/presentationml/2006/main">
  <p:cSld>
    <p:bg>
      <p:bgPr>
        <a:solidFill xmlns:a="http://schemas.openxmlformats.org/drawingml/2006/main">
          <a:srgbClr val="1E4D3A"/>
        </a:solidFill>
      </p:bgPr>
    </p:bg>
    <p:spTree>
      <p:nvGrpSpPr>
        <p:cNvPr id="1" name=""/>
        <p:cNvGrpSpPr/>
        <p:nvPr/>
      </p:nvGrpSpPr>
      <p:grpSpPr>
        <a:xfrm xmlns:a="http://schemas.openxmlformats.org/drawingml/2006/main"/>
      </p:grpSpPr>
      <p:sp>
        <p:nvSpPr>
          <p:cNvPr id="6" name="section-number">
            <a:extLst xmlns:a="http://schemas.openxmlformats.org/drawingml/2006/main">
              <a:ext uri="{FF2B5EF4-FFF2-40B4-BE49-F238E27FC236}">
                <a16:creationId xmlns:a16="http://schemas.microsoft.com/office/drawing/2014/main" id="{693743AA-83D5-420B-A38D-531A5E19F5BF}"/>
              </a:ext>
            </a:extLst>
          </p:cNvPr>
          <p:cNvSpPr>
            <a:spLocks xmlns:a="http://schemas.openxmlformats.org/drawingml/2006/main" noGrp="1"/>
          </p:cNvSpPr>
          <p:nvPr/>
        </p:nvSpPr>
        <p:spPr>
          <a:xfrm xmlns:a="http://schemas.openxmlformats.org/drawingml/2006/main">
            <a:off x="704850" y="800100"/>
            <a:ext cx="209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3EDE0"/>
                </a:solidFill>
                <a:latin typeface="Cypress Inter"/>
                <a:ea typeface="Cypress Inter"/>
                <a:cs typeface="Cypress Inter"/>
              </a:defRPr>
            </a:pPr>
            <a:r>
              <a:rPr sz="1875" b="0">
                <a:solidFill>
                  <a:srgbClr val="F3EDE0"/>
                </a:solidFill>
                <a:latin typeface="Cypress Inter"/>
                <a:ea typeface="Cypress Inter"/>
                <a:cs typeface="Cypress Inter"/>
              </a:rPr>
              <a:t>[01]</a:t>
            </a:r>
          </a:p>
        </p:txBody>
      </p:sp>
      <p:sp>
        <p:nvSpPr>
          <p:cNvPr id="2" name="section-heading">
            <a:extLst xmlns:a="http://schemas.openxmlformats.org/drawingml/2006/main">
              <a:ext uri="{FF2B5EF4-FFF2-40B4-BE49-F238E27FC236}">
                <a16:creationId xmlns:a16="http://schemas.microsoft.com/office/drawing/2014/main" id="{BF93CEF7-3601-4B2F-9DFB-B600CB17F339}"/>
              </a:ext>
            </a:extLst>
          </p:cNvPr>
          <p:cNvSpPr>
            <a:spLocks xmlns:a="http://schemas.openxmlformats.org/drawingml/2006/main" noGrp="1"/>
          </p:cNvSpPr>
          <p:nvPr/>
        </p:nvSpPr>
        <p:spPr>
          <a:xfrm xmlns:a="http://schemas.openxmlformats.org/drawingml/2006/main">
            <a:off x="704850" y="2609850"/>
            <a:ext cx="895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F3EDE0"/>
                </a:solidFill>
                <a:latin typeface="Cypress Fraunces"/>
                <a:ea typeface="Cypress Fraunces"/>
                <a:cs typeface="Cypress Fraunces"/>
              </a:defRPr>
            </a:pPr>
            <a:r>
              <a:rPr sz="5100" b="0">
                <a:solidFill>
                  <a:srgbClr val="F3EDE0"/>
                </a:solidFill>
                <a:latin typeface="Cypress Fraunces"/>
                <a:ea typeface="Cypress Fraunces"/>
                <a:cs typeface="Cypress Fraunces"/>
              </a:rPr>
              <a:t>[Section title]</a:t>
            </a:r>
          </a:p>
        </p:txBody>
      </p:sp>
      <p:sp>
        <p:nvSpPr>
          <p:cNvPr id="3" name="section-description">
            <a:extLst xmlns:a="http://schemas.openxmlformats.org/drawingml/2006/main">
              <a:ext uri="{FF2B5EF4-FFF2-40B4-BE49-F238E27FC236}">
                <a16:creationId xmlns:a16="http://schemas.microsoft.com/office/drawing/2014/main" id="{56F1BEF4-74EA-453A-85D9-602BBE6C339A}"/>
              </a:ext>
            </a:extLst>
          </p:cNvPr>
          <p:cNvSpPr>
            <a:spLocks xmlns:a="http://schemas.openxmlformats.org/drawingml/2006/main" noGrp="1"/>
          </p:cNvSpPr>
          <p:nvPr/>
        </p:nvSpPr>
        <p:spPr>
          <a:xfrm xmlns:a="http://schemas.openxmlformats.org/drawingml/2006/main">
            <a:off x="742950" y="3810000"/>
            <a:ext cx="9096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3EDE0"/>
                </a:solidFill>
                <a:latin typeface="Cypress Inter"/>
                <a:ea typeface="Cypress Inter"/>
                <a:cs typeface="Cypress Inter"/>
              </a:defRPr>
            </a:pPr>
            <a:r>
              <a:rPr sz="2100" b="0">
                <a:solidFill>
                  <a:srgbClr val="F3EDE0"/>
                </a:solidFill>
                <a:latin typeface="Cypress Inter"/>
                <a:ea typeface="Cypress Inter"/>
                <a:cs typeface="Cypress Inter"/>
              </a:rPr>
              <a:t>[One sentence introducing this section]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65e90ca876462c"/>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5" name="page-number">
            <a:extLst xmlns:a="http://schemas.openxmlformats.org/drawingml/2006/main">
              <a:ext uri="{FF2B5EF4-FFF2-40B4-BE49-F238E27FC236}">
                <a16:creationId xmlns:a16="http://schemas.microsoft.com/office/drawing/2014/main" id="{C2E59C01-0D76-497D-BA67-B5EB6F6909A7}"/>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F3EDE0"/>
                </a:solidFill>
                <a:latin typeface="Cypress Inter"/>
                <a:ea typeface="Cypress Inter"/>
                <a:cs typeface="Cypress Inter"/>
              </a:defRPr>
            </a:pPr>
            <a:r>
              <a:rPr sz="1200" b="0">
                <a:solidFill>
                  <a:srgbClr val="F3EDE0"/>
                </a:solidFill>
                <a:latin typeface="Cypress Inter"/>
                <a:ea typeface="Cypress Inter"/>
                <a:cs typeface="Cypress Inter"/>
              </a:rPr>
              <a:t>02</a:t>
            </a:r>
          </a:p>
        </p:txBody>
      </p:sp>
    </p:spTree>
    <p:extLst>
      <p:ext uri="{BB962C8B-B14F-4D97-AF65-F5344CB8AC3E}">
        <p14:creationId xmlns:p14="http://schemas.microsoft.com/office/powerpoint/2010/main" val="1671976621"/>
      </p:ext>
    </p:extLst>
  </p:cSld>
</p:sld>
</file>

<file path=ppt/slides/slide3.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18A1A1B-C733-4ECB-97EB-805E246455A8}"/>
              </a:ext>
            </a:extLst>
          </p:cNvPr>
          <p:cNvSpPr>
            <a:spLocks xmlns:a="http://schemas.openxmlformats.org/drawingml/2006/main" noGrp="1"/>
          </p:cNvSpPr>
          <p:nvPr/>
        </p:nvSpPr>
        <p:spPr>
          <a:xfrm xmlns:a="http://schemas.openxmlformats.org/drawingml/2006/main">
            <a:off x="685800" y="600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0A1F16"/>
                </a:solidFill>
                <a:latin typeface="Cypress Fraunces"/>
                <a:ea typeface="Cypress Fraunces"/>
                <a:cs typeface="Cypress Fraunces"/>
              </a:defRPr>
            </a:pPr>
            <a:r>
              <a:rPr sz="3750" b="0">
                <a:solidFill>
                  <a:srgbClr val="0A1F16"/>
                </a:solidFill>
                <a:latin typeface="Cypress Fraunces"/>
                <a:ea typeface="Cypress Fraunces"/>
                <a:cs typeface="Cypress Fraunces"/>
              </a:rPr>
              <a:t>[Executive summary]</a:t>
            </a:r>
          </a:p>
        </p:txBody>
      </p:sp>
      <p:sp>
        <p:nvSpPr>
          <p:cNvPr id="2" name="summary-recommendation">
            <a:extLst xmlns:a="http://schemas.openxmlformats.org/drawingml/2006/main">
              <a:ext uri="{FF2B5EF4-FFF2-40B4-BE49-F238E27FC236}">
                <a16:creationId xmlns:a16="http://schemas.microsoft.com/office/drawing/2014/main" id="{5120D296-B4A9-4B7E-B6DB-ABC9BB937D7B}"/>
              </a:ext>
            </a:extLst>
          </p:cNvPr>
          <p:cNvSpPr>
            <a:spLocks xmlns:a="http://schemas.openxmlformats.org/drawingml/2006/main" noGrp="1"/>
          </p:cNvSpPr>
          <p:nvPr/>
        </p:nvSpPr>
        <p:spPr>
          <a:xfrm xmlns:a="http://schemas.openxmlformats.org/drawingml/2006/main">
            <a:off x="704850" y="1905000"/>
            <a:ext cx="10553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E4D3A"/>
                </a:solidFill>
                <a:latin typeface="Cypress Fraunces"/>
                <a:ea typeface="Cypress Fraunces"/>
                <a:cs typeface="Cypress Fraunces"/>
              </a:defRPr>
            </a:pPr>
            <a:r>
              <a:rPr sz="2850" b="0">
                <a:solidFill>
                  <a:srgbClr val="1E4D3A"/>
                </a:solidFill>
                <a:latin typeface="Cypress Fraunces"/>
                <a:ea typeface="Cypress Fraunces"/>
                <a:cs typeface="Cypress Fraunces"/>
              </a:rPr>
              <a:t>[The recommendation in one sentence]</a:t>
            </a:r>
          </a:p>
        </p:txBody>
      </p:sp>
      <p:sp>
        <p:nvSpPr>
          <p:cNvPr id="3" name="summary-context-label">
            <a:extLst xmlns:a="http://schemas.openxmlformats.org/drawingml/2006/main">
              <a:ext uri="{FF2B5EF4-FFF2-40B4-BE49-F238E27FC236}">
                <a16:creationId xmlns:a16="http://schemas.microsoft.com/office/drawing/2014/main" id="{A7AD345C-2A0E-4CB2-94A8-68EA28686A77}"/>
              </a:ext>
            </a:extLst>
          </p:cNvPr>
          <p:cNvSpPr>
            <a:spLocks xmlns:a="http://schemas.openxmlformats.org/drawingml/2006/main" noGrp="1"/>
          </p:cNvSpPr>
          <p:nvPr/>
        </p:nvSpPr>
        <p:spPr>
          <a:xfrm xmlns:a="http://schemas.openxmlformats.org/drawingml/2006/main">
            <a:off x="704850" y="3086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E4D3A"/>
                </a:solidFill>
                <a:latin typeface="Cypress Inter"/>
                <a:ea typeface="Cypress Inter"/>
                <a:cs typeface="Cypress Inter"/>
              </a:defRPr>
            </a:pPr>
            <a:r>
              <a:rPr sz="1875" b="1">
                <a:solidFill>
                  <a:srgbClr val="1E4D3A"/>
                </a:solidFill>
                <a:latin typeface="Cypress Inter"/>
                <a:ea typeface="Cypress Inter"/>
                <a:cs typeface="Cypress Inter"/>
              </a:rPr>
              <a:t>Context</a:t>
            </a:r>
          </a:p>
        </p:txBody>
      </p:sp>
      <p:sp>
        <p:nvSpPr>
          <p:cNvPr id="4" name="summary-context">
            <a:extLst xmlns:a="http://schemas.openxmlformats.org/drawingml/2006/main">
              <a:ext uri="{FF2B5EF4-FFF2-40B4-BE49-F238E27FC236}">
                <a16:creationId xmlns:a16="http://schemas.microsoft.com/office/drawing/2014/main" id="{4D7D18E5-DA78-4966-A8A6-EFD2D3769163}"/>
              </a:ext>
            </a:extLst>
          </p:cNvPr>
          <p:cNvSpPr>
            <a:spLocks xmlns:a="http://schemas.openxmlformats.org/drawingml/2006/main" noGrp="1"/>
          </p:cNvSpPr>
          <p:nvPr/>
        </p:nvSpPr>
        <p:spPr>
          <a:xfrm xmlns:a="http://schemas.openxmlformats.org/drawingml/2006/main">
            <a:off x="704850" y="3600450"/>
            <a:ext cx="4800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[What matters now and why the decision is needed.]</a:t>
            </a:r>
          </a:p>
        </p:txBody>
      </p:sp>
      <p:sp>
        <p:nvSpPr>
          <p:cNvPr id="5" name="summary-decision-label">
            <a:extLst xmlns:a="http://schemas.openxmlformats.org/drawingml/2006/main">
              <a:ext uri="{FF2B5EF4-FFF2-40B4-BE49-F238E27FC236}">
                <a16:creationId xmlns:a16="http://schemas.microsoft.com/office/drawing/2014/main" id="{DFB9F96A-BF41-4C19-9A6D-1320A40F826B}"/>
              </a:ext>
            </a:extLst>
          </p:cNvPr>
          <p:cNvSpPr>
            <a:spLocks xmlns:a="http://schemas.openxmlformats.org/drawingml/2006/main" noGrp="1"/>
          </p:cNvSpPr>
          <p:nvPr/>
        </p:nvSpPr>
        <p:spPr>
          <a:xfrm xmlns:a="http://schemas.openxmlformats.org/drawingml/2006/main">
            <a:off x="6400800" y="3086100"/>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E4D3A"/>
                </a:solidFill>
                <a:latin typeface="Cypress Inter"/>
                <a:ea typeface="Cypress Inter"/>
                <a:cs typeface="Cypress Inter"/>
              </a:defRPr>
            </a:pPr>
            <a:r>
              <a:rPr sz="1875" b="1">
                <a:solidFill>
                  <a:srgbClr val="1E4D3A"/>
                </a:solidFill>
                <a:latin typeface="Cypress Inter"/>
                <a:ea typeface="Cypress Inter"/>
                <a:cs typeface="Cypress Inter"/>
              </a:rPr>
              <a:t>Decision requested</a:t>
            </a:r>
          </a:p>
        </p:txBody>
      </p:sp>
      <p:sp>
        <p:nvSpPr>
          <p:cNvPr id="6" name="summary-decision">
            <a:extLst xmlns:a="http://schemas.openxmlformats.org/drawingml/2006/main">
              <a:ext uri="{FF2B5EF4-FFF2-40B4-BE49-F238E27FC236}">
                <a16:creationId xmlns:a16="http://schemas.microsoft.com/office/drawing/2014/main" id="{A858BB00-1133-4B8E-8E1D-584EFE6712D1}"/>
              </a:ext>
            </a:extLst>
          </p:cNvPr>
          <p:cNvSpPr>
            <a:spLocks xmlns:a="http://schemas.openxmlformats.org/drawingml/2006/main" noGrp="1"/>
          </p:cNvSpPr>
          <p:nvPr/>
        </p:nvSpPr>
        <p:spPr>
          <a:xfrm xmlns:a="http://schemas.openxmlformats.org/drawingml/2006/main">
            <a:off x="6400800" y="3600450"/>
            <a:ext cx="4800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[The specific approval, owner or next action.]</a:t>
            </a:r>
          </a:p>
        </p:txBody>
      </p:sp>
      <p:sp>
        <p:nvSpPr>
          <p:cNvPr id="7" name="summary-evidence">
            <a:extLst xmlns:a="http://schemas.openxmlformats.org/drawingml/2006/main">
              <a:ext uri="{FF2B5EF4-FFF2-40B4-BE49-F238E27FC236}">
                <a16:creationId xmlns:a16="http://schemas.microsoft.com/office/drawing/2014/main" id="{F0C5A118-D08C-4FDB-B1B1-2CD5A6C5E0CC}"/>
              </a:ext>
            </a:extLst>
          </p:cNvPr>
          <p:cNvSpPr>
            <a:spLocks xmlns:a="http://schemas.openxmlformats.org/drawingml/2006/main" noGrp="1"/>
          </p:cNvSpPr>
          <p:nvPr/>
        </p:nvSpPr>
        <p:spPr>
          <a:xfrm xmlns:a="http://schemas.openxmlformats.org/drawingml/2006/main">
            <a:off x="704850" y="5238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E4D3A"/>
                </a:solidFill>
                <a:latin typeface="Cypress Inter"/>
                <a:ea typeface="Cypress Inter"/>
                <a:cs typeface="Cypress Inter"/>
              </a:defRPr>
            </a:pPr>
            <a:r>
              <a:rPr sz="1350" b="0">
                <a:solidFill>
                  <a:srgbClr val="1E4D3A"/>
                </a:solidFill>
                <a:latin typeface="Cypress Inter"/>
                <a:ea typeface="Cypress Inter"/>
                <a:cs typeface="Cypress Inter"/>
              </a:rPr>
              <a:t>[Evidence source and date]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625d1a6491a4d99"/>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9" name="page-number">
            <a:extLst xmlns:a="http://schemas.openxmlformats.org/drawingml/2006/main">
              <a:ext uri="{FF2B5EF4-FFF2-40B4-BE49-F238E27FC236}">
                <a16:creationId xmlns:a16="http://schemas.microsoft.com/office/drawing/2014/main" id="{E3BB8433-90FB-49E3-A036-66C1E9400FF4}"/>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1E4D3A"/>
                </a:solidFill>
                <a:latin typeface="Cypress Inter"/>
                <a:ea typeface="Cypress Inter"/>
                <a:cs typeface="Cypress Inter"/>
              </a:defRPr>
            </a:pPr>
            <a:r>
              <a:rPr sz="1200" b="0">
                <a:solidFill>
                  <a:srgbClr val="1E4D3A"/>
                </a:solidFill>
                <a:latin typeface="Cypress Inter"/>
                <a:ea typeface="Cypress Inter"/>
                <a:cs typeface="Cypress Inter"/>
              </a:rPr>
              <a:t>03</a:t>
            </a:r>
          </a:p>
        </p:txBody>
      </p:sp>
    </p:spTree>
    <p:extLst>
      <p:ext uri="{BB962C8B-B14F-4D97-AF65-F5344CB8AC3E}">
        <p14:creationId xmlns:p14="http://schemas.microsoft.com/office/powerpoint/2010/main" val="1268282563"/>
      </p:ext>
    </p:extLst>
  </p:cSld>
</p:sld>
</file>

<file path=ppt/slides/slide4.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9B3EA09-B18C-41BF-A1DE-C97A64B2567E}"/>
              </a:ext>
            </a:extLst>
          </p:cNvPr>
          <p:cNvSpPr>
            <a:spLocks xmlns:a="http://schemas.openxmlformats.org/drawingml/2006/main" noGrp="1"/>
          </p:cNvSpPr>
          <p:nvPr/>
        </p:nvSpPr>
        <p:spPr>
          <a:xfrm xmlns:a="http://schemas.openxmlformats.org/drawingml/2006/main">
            <a:off x="685800" y="600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0A1F16"/>
                </a:solidFill>
                <a:latin typeface="Cypress Fraunces"/>
                <a:ea typeface="Cypress Fraunces"/>
                <a:cs typeface="Cypress Fraunces"/>
              </a:defRPr>
            </a:pPr>
            <a:r>
              <a:rPr sz="3750" b="0">
                <a:solidFill>
                  <a:srgbClr val="0A1F16"/>
                </a:solidFill>
                <a:latin typeface="Cypress Fraunces"/>
                <a:ea typeface="Cypress Fraunces"/>
                <a:cs typeface="Cypress Fraunces"/>
              </a:rPr>
              <a:t>[Comparison title]</a:t>
            </a:r>
          </a:p>
        </p:txBody>
      </p:sp>
      <p:sp>
        <p:nvSpPr>
          <p:cNvPr id="2" name="slide-subtitle">
            <a:extLst xmlns:a="http://schemas.openxmlformats.org/drawingml/2006/main">
              <a:ext uri="{FF2B5EF4-FFF2-40B4-BE49-F238E27FC236}">
                <a16:creationId xmlns:a16="http://schemas.microsoft.com/office/drawing/2014/main" id="{437E8D04-0027-4B24-9744-26DEA53C1D5E}"/>
              </a:ext>
            </a:extLst>
          </p:cNvPr>
          <p:cNvSpPr>
            <a:spLocks xmlns:a="http://schemas.openxmlformats.org/drawingml/2006/main" noGrp="1"/>
          </p:cNvSpPr>
          <p:nvPr/>
        </p:nvSpPr>
        <p:spPr>
          <a:xfrm xmlns:a="http://schemas.openxmlformats.org/drawingml/2006/main">
            <a:off x="704850" y="14573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0A1F16"/>
                </a:solidFill>
                <a:latin typeface="Cypress Inter"/>
                <a:ea typeface="Cypress Inter"/>
                <a:cs typeface="Cypress Inter"/>
              </a:defRPr>
            </a:pPr>
            <a:r>
              <a:rPr sz="1725" b="0">
                <a:solidFill>
                  <a:srgbClr val="0A1F16"/>
                </a:solidFill>
                <a:latin typeface="Cypress Inter"/>
                <a:ea typeface="Cypress Inter"/>
                <a:cs typeface="Cypress Inter"/>
              </a:rPr>
              <a:t>[The decision criterion or question]</a:t>
            </a:r>
          </a:p>
        </p:txBody>
      </p:sp>
      <p:sp>
        <p:nvSpPr>
          <p:cNvPr id="3" name="option-a-heading">
            <a:extLst xmlns:a="http://schemas.openxmlformats.org/drawingml/2006/main">
              <a:ext uri="{FF2B5EF4-FFF2-40B4-BE49-F238E27FC236}">
                <a16:creationId xmlns:a16="http://schemas.microsoft.com/office/drawing/2014/main" id="{4AE27EFA-71BF-430C-A792-49EE9F401A0A}"/>
              </a:ext>
            </a:extLst>
          </p:cNvPr>
          <p:cNvSpPr>
            <a:spLocks xmlns:a="http://schemas.openxmlformats.org/drawingml/2006/main" noGrp="1"/>
          </p:cNvSpPr>
          <p:nvPr/>
        </p:nvSpPr>
        <p:spPr>
          <a:xfrm xmlns:a="http://schemas.openxmlformats.org/drawingml/2006/main">
            <a:off x="704850" y="22669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E4D3A"/>
                </a:solidFill>
                <a:latin typeface="Cypress Fraunces"/>
                <a:ea typeface="Cypress Fraunces"/>
                <a:cs typeface="Cypress Fraunces"/>
              </a:defRPr>
            </a:pPr>
            <a:r>
              <a:rPr sz="2700" b="0">
                <a:solidFill>
                  <a:srgbClr val="1E4D3A"/>
                </a:solidFill>
                <a:latin typeface="Cypress Fraunces"/>
                <a:ea typeface="Cypress Fraunces"/>
                <a:cs typeface="Cypress Fraunces"/>
              </a:rPr>
              <a:t>[Option A]</a:t>
            </a:r>
          </a:p>
        </p:txBody>
      </p:sp>
      <p:sp>
        <p:nvSpPr>
          <p:cNvPr id="4" name="option-a-detail">
            <a:extLst xmlns:a="http://schemas.openxmlformats.org/drawingml/2006/main">
              <a:ext uri="{FF2B5EF4-FFF2-40B4-BE49-F238E27FC236}">
                <a16:creationId xmlns:a16="http://schemas.microsoft.com/office/drawing/2014/main" id="{093985BF-B962-460D-A513-1723D1D4F0CB}"/>
              </a:ext>
            </a:extLst>
          </p:cNvPr>
          <p:cNvSpPr>
            <a:spLocks xmlns:a="http://schemas.openxmlformats.org/drawingml/2006/main" noGrp="1"/>
          </p:cNvSpPr>
          <p:nvPr/>
        </p:nvSpPr>
        <p:spPr>
          <a:xfrm xmlns:a="http://schemas.openxmlformats.org/drawingml/2006/main">
            <a:off x="704850" y="3067050"/>
            <a:ext cx="47815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[Primary advantage]</a:t>
            </a:r>
          </a:p>
          <a:p xmlns:a="http://schemas.openxmlformats.org/drawingml/2006/main">
            <a:r>
              <a:t/>
            </a:r>
          </a:p>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[Main tradeoff]</a:t>
            </a:r>
          </a:p>
          <a:p xmlns:a="http://schemas.openxmlformats.org/drawingml/2006/main">
            <a:r>
              <a:t/>
            </a:r>
          </a:p>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[Cost or effort]</a:t>
            </a:r>
          </a:p>
        </p:txBody>
      </p:sp>
      <p:sp>
        <p:nvSpPr>
          <p:cNvPr id="5" name="option-b-heading">
            <a:extLst xmlns:a="http://schemas.openxmlformats.org/drawingml/2006/main">
              <a:ext uri="{FF2B5EF4-FFF2-40B4-BE49-F238E27FC236}">
                <a16:creationId xmlns:a16="http://schemas.microsoft.com/office/drawing/2014/main" id="{00CD75A9-9545-402B-82B7-7C780C4B9406}"/>
              </a:ext>
            </a:extLst>
          </p:cNvPr>
          <p:cNvSpPr>
            <a:spLocks xmlns:a="http://schemas.openxmlformats.org/drawingml/2006/main" noGrp="1"/>
          </p:cNvSpPr>
          <p:nvPr/>
        </p:nvSpPr>
        <p:spPr>
          <a:xfrm xmlns:a="http://schemas.openxmlformats.org/drawingml/2006/main">
            <a:off x="6419850" y="22669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E4D3A"/>
                </a:solidFill>
                <a:latin typeface="Cypress Fraunces"/>
                <a:ea typeface="Cypress Fraunces"/>
                <a:cs typeface="Cypress Fraunces"/>
              </a:defRPr>
            </a:pPr>
            <a:r>
              <a:rPr sz="2700" b="0">
                <a:solidFill>
                  <a:srgbClr val="1E4D3A"/>
                </a:solidFill>
                <a:latin typeface="Cypress Fraunces"/>
                <a:ea typeface="Cypress Fraunces"/>
                <a:cs typeface="Cypress Fraunces"/>
              </a:rPr>
              <a:t>[Option B]</a:t>
            </a:r>
          </a:p>
        </p:txBody>
      </p:sp>
      <p:sp>
        <p:nvSpPr>
          <p:cNvPr id="6" name="option-b-detail">
            <a:extLst xmlns:a="http://schemas.openxmlformats.org/drawingml/2006/main">
              <a:ext uri="{FF2B5EF4-FFF2-40B4-BE49-F238E27FC236}">
                <a16:creationId xmlns:a16="http://schemas.microsoft.com/office/drawing/2014/main" id="{E6F80D0B-0E5B-44F6-8542-A67E61A98B7E}"/>
              </a:ext>
            </a:extLst>
          </p:cNvPr>
          <p:cNvSpPr>
            <a:spLocks xmlns:a="http://schemas.openxmlformats.org/drawingml/2006/main" noGrp="1"/>
          </p:cNvSpPr>
          <p:nvPr/>
        </p:nvSpPr>
        <p:spPr>
          <a:xfrm xmlns:a="http://schemas.openxmlformats.org/drawingml/2006/main">
            <a:off x="6419850" y="3067050"/>
            <a:ext cx="47815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[Primary advantage]</a:t>
            </a:r>
          </a:p>
          <a:p xmlns:a="http://schemas.openxmlformats.org/drawingml/2006/main">
            <a:r>
              <a:t/>
            </a:r>
          </a:p>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[Main tradeoff]</a:t>
            </a:r>
          </a:p>
          <a:p xmlns:a="http://schemas.openxmlformats.org/drawingml/2006/main">
            <a:r>
              <a:t/>
            </a:r>
          </a:p>
          <a:p xmlns:a="http://schemas.openxmlformats.org/drawingml/2006/main">
            <a:pPr algn="l">
              <a:defRPr sz="2025" b="0">
                <a:solidFill>
                  <a:srgbClr val="0A1F16"/>
                </a:solidFill>
                <a:latin typeface="Cypress Inter"/>
                <a:ea typeface="Cypress Inter"/>
                <a:cs typeface="Cypress Inter"/>
              </a:defRPr>
            </a:pPr>
            <a:r>
              <a:rPr sz="2025" b="0">
                <a:solidFill>
                  <a:srgbClr val="0A1F16"/>
                </a:solidFill>
                <a:latin typeface="Cypress Inter"/>
                <a:ea typeface="Cypress Inter"/>
                <a:cs typeface="Cypress Inter"/>
              </a:rPr>
              <a:t>[Cost or effort]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06f792ee454bf2"/>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8" name="page-number">
            <a:extLst xmlns:a="http://schemas.openxmlformats.org/drawingml/2006/main">
              <a:ext uri="{FF2B5EF4-FFF2-40B4-BE49-F238E27FC236}">
                <a16:creationId xmlns:a16="http://schemas.microsoft.com/office/drawing/2014/main" id="{AD961252-5383-46F7-BEBC-1226EC0ECEB8}"/>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1E4D3A"/>
                </a:solidFill>
                <a:latin typeface="Cypress Inter"/>
                <a:ea typeface="Cypress Inter"/>
                <a:cs typeface="Cypress Inter"/>
              </a:defRPr>
            </a:pPr>
            <a:r>
              <a:rPr sz="1200" b="0">
                <a:solidFill>
                  <a:srgbClr val="1E4D3A"/>
                </a:solidFill>
                <a:latin typeface="Cypress Inter"/>
                <a:ea typeface="Cypress Inter"/>
                <a:cs typeface="Cypress Inter"/>
              </a:rPr>
              <a:t>04</a:t>
            </a:r>
          </a:p>
        </p:txBody>
      </p:sp>
    </p:spTree>
    <p:extLst>
      <p:ext uri="{BB962C8B-B14F-4D97-AF65-F5344CB8AC3E}">
        <p14:creationId xmlns:p14="http://schemas.microsoft.com/office/powerpoint/2010/main" val="2067425701"/>
      </p:ext>
    </p:extLst>
  </p:cSld>
</p:sld>
</file>

<file path=ppt/slides/slide5.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C74F774-4E95-48E2-B57E-5F0205078967}"/>
              </a:ext>
            </a:extLst>
          </p:cNvPr>
          <p:cNvSpPr>
            <a:spLocks xmlns:a="http://schemas.openxmlformats.org/drawingml/2006/main" noGrp="1"/>
          </p:cNvSpPr>
          <p:nvPr/>
        </p:nvSpPr>
        <p:spPr>
          <a:xfrm xmlns:a="http://schemas.openxmlformats.org/drawingml/2006/main">
            <a:off x="685800" y="600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0A1F16"/>
                </a:solidFill>
                <a:latin typeface="Cypress Fraunces"/>
                <a:ea typeface="Cypress Fraunces"/>
                <a:cs typeface="Cypress Fraunces"/>
              </a:defRPr>
            </a:pPr>
            <a:r>
              <a:rPr sz="3750" b="0">
                <a:solidFill>
                  <a:srgbClr val="0A1F16"/>
                </a:solidFill>
                <a:latin typeface="Cypress Fraunces"/>
                <a:ea typeface="Cypress Fraunces"/>
                <a:cs typeface="Cypress Fraunces"/>
              </a:rPr>
              <a:t>[Table title]</a:t>
            </a:r>
          </a:p>
        </p:txBody>
      </p:sp>
      <p:sp>
        <p:nvSpPr>
          <p:cNvPr id="2" name="slide-subtitle">
            <a:extLst xmlns:a="http://schemas.openxmlformats.org/drawingml/2006/main">
              <a:ext uri="{FF2B5EF4-FFF2-40B4-BE49-F238E27FC236}">
                <a16:creationId xmlns:a16="http://schemas.microsoft.com/office/drawing/2014/main" id="{7A98B1C5-2306-4489-A745-81BFBEFDA50F}"/>
              </a:ext>
            </a:extLst>
          </p:cNvPr>
          <p:cNvSpPr>
            <a:spLocks xmlns:a="http://schemas.openxmlformats.org/drawingml/2006/main" noGrp="1"/>
          </p:cNvSpPr>
          <p:nvPr/>
        </p:nvSpPr>
        <p:spPr>
          <a:xfrm xmlns:a="http://schemas.openxmlformats.org/drawingml/2006/main">
            <a:off x="704850" y="14573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0A1F16"/>
                </a:solidFill>
                <a:latin typeface="Cypress Inter"/>
                <a:ea typeface="Cypress Inter"/>
                <a:cs typeface="Cypress Inter"/>
              </a:defRPr>
            </a:pPr>
            <a:r>
              <a:rPr sz="1725" b="0">
                <a:solidFill>
                  <a:srgbClr val="0A1F16"/>
                </a:solidFill>
                <a:latin typeface="Cypress Inter"/>
                <a:ea typeface="Cypress Inter"/>
                <a:cs typeface="Cypress Inter"/>
              </a:rPr>
              <a:t>[Units, scope and reporting period]</a:t>
            </a:r>
          </a:p>
        </p:txBody>
      </p:sp>
      <p:graphicFrame>
        <p:nvGraphicFramePr>
          <p:cNvPr id="9" name=""/>
          <p:cNvGraphicFramePr/>
          <p:nvPr/>
        </p:nvGraphicFramePr>
        <p:xfrm>
          <a:off xmlns:a="http://schemas.openxmlformats.org/drawingml/2006/main" x="704850" y="2276475"/>
          <a:ext xmlns:a="http://schemas.openxmlformats.org/drawingml/2006/main" cx="10782300" cy="2952750"/>
        </p:xfrm>
        <a:graphic xmlns:a="http://schemas.openxmlformats.org/drawingml/2006/main">
          <a:graphicData uri="http://schemas.openxmlformats.org/drawingml/2006/table">
            <a:tbl>
              <a:tblPr firstRow="1" bandRow="0"/>
              <a:tblGrid>
                <a:gridCol w="3333750"/>
                <a:gridCol w="1924050"/>
                <a:gridCol w="1733550"/>
                <a:gridCol w="3790950"/>
              </a:tblGrid>
              <a:tr h="590550">
                <a:tc>
                  <a:txBody>
                    <a:bodyPr>
                      <a:noAutofit/>
                    </a:bodyPr>
                    <a:lstStyle/>
                    <a:p>
                      <a:r>
                        <a:rPr sz="1725" b="1">
                          <a:solidFill>
                            <a:srgbClr val="F3EDE0"/>
                          </a:solidFill>
                          <a:latin typeface="Cypress Inter"/>
                          <a:ea typeface="Cypress Inter"/>
                          <a:cs typeface="Cypress Inter"/>
                        </a:rPr>
                        <a:t>[Measure]</a:t>
                      </a:r>
                    </a:p>
                  </a:txBody>
                  <a:tcPr marL="142875" marR="142875" marT="142875" marB="142875" anchor="ctr">
                    <a:solidFill>
                      <a:srgbClr val="1E4D3A"/>
                    </a:solidFill>
                  </a:tcPr>
                </a:tc>
                <a:tc>
                  <a:txBody>
                    <a:bodyPr>
                      <a:noAutofit/>
                    </a:bodyPr>
                    <a:lstStyle/>
                    <a:p>
                      <a:r>
                        <a:rPr sz="1725" b="1">
                          <a:solidFill>
                            <a:srgbClr val="F3EDE0"/>
                          </a:solidFill>
                          <a:latin typeface="Cypress Inter"/>
                          <a:ea typeface="Cypress Inter"/>
                          <a:cs typeface="Cypress Inter"/>
                        </a:rPr>
                        <a:t>[Period]</a:t>
                      </a:r>
                    </a:p>
                  </a:txBody>
                  <a:tcPr marL="142875" marR="142875" marT="142875" marB="142875" anchor="ctr">
                    <a:solidFill>
                      <a:srgbClr val="1E4D3A"/>
                    </a:solidFill>
                  </a:tcPr>
                </a:tc>
                <a:tc>
                  <a:txBody>
                    <a:bodyPr>
                      <a:noAutofit/>
                    </a:bodyPr>
                    <a:lstStyle/>
                    <a:p>
                      <a:r>
                        <a:rPr sz="1725" b="1">
                          <a:solidFill>
                            <a:srgbClr val="F3EDE0"/>
                          </a:solidFill>
                          <a:latin typeface="Cypress Inter"/>
                          <a:ea typeface="Cypress Inter"/>
                          <a:cs typeface="Cypress Inter"/>
                        </a:rPr>
                        <a:t>[Value]</a:t>
                      </a:r>
                    </a:p>
                  </a:txBody>
                  <a:tcPr marL="142875" marR="142875" marT="142875" marB="142875" anchor="ctr">
                    <a:solidFill>
                      <a:srgbClr val="1E4D3A"/>
                    </a:solidFill>
                  </a:tcPr>
                </a:tc>
                <a:tc>
                  <a:txBody>
                    <a:bodyPr>
                      <a:noAutofit/>
                    </a:bodyPr>
                    <a:lstStyle/>
                    <a:p>
                      <a:r>
                        <a:rPr sz="1725" b="1">
                          <a:solidFill>
                            <a:srgbClr val="F3EDE0"/>
                          </a:solidFill>
                          <a:latin typeface="Cypress Inter"/>
                          <a:ea typeface="Cypress Inter"/>
                          <a:cs typeface="Cypress Inter"/>
                        </a:rPr>
                        <a:t>[Notes]</a:t>
                      </a:r>
                    </a:p>
                  </a:txBody>
                  <a:tcPr marL="142875" marR="142875" marT="142875" marB="142875" anchor="ctr">
                    <a:solidFill>
                      <a:srgbClr val="1E4D3A"/>
                    </a:solidFill>
                  </a:tcPr>
                </a:tc>
              </a:tr>
              <a:tr h="590550">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r>
              <a:tr h="590550">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r>
              <a:tr h="590550">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r>
              <a:tr h="590550">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c>
                  <a:txBody>
                    <a:bodyPr>
                      <a:noAutofit/>
                    </a:bodyPr>
                    <a:lstStyle/>
                    <a:p>
                      <a:r>
                        <a:rPr sz="1875" b="0">
                          <a:solidFill>
                            <a:srgbClr val="0A1F16"/>
                          </a:solidFill>
                          <a:latin typeface="Cypress Inter"/>
                          <a:ea typeface="Cypress Inter"/>
                          <a:cs typeface="Cypress Inter"/>
                        </a:rPr>
                        <a:t/>
                      </a:r>
                    </a:p>
                  </a:txBody>
                  <a:tcPr marL="142875" marR="142875" marT="142875" marB="142875" anchor="ctr">
                    <a:solidFill>
                      <a:srgbClr val="F3EDE0"/>
                    </a:solidFill>
                  </a:tcPr>
                </a:tc>
              </a:tr>
            </a:tbl>
          </a:graphicData>
        </a:graphic>
      </p:graphicFrame>
      <p:sp>
        <p:nvSpPr>
          <p:cNvPr id="4" name="table-source">
            <a:extLst xmlns:a="http://schemas.openxmlformats.org/drawingml/2006/main">
              <a:ext uri="{FF2B5EF4-FFF2-40B4-BE49-F238E27FC236}">
                <a16:creationId xmlns:a16="http://schemas.microsoft.com/office/drawing/2014/main" id="{945B7317-A25E-42C8-A3F2-D64233BADFA2}"/>
              </a:ext>
            </a:extLst>
          </p:cNvPr>
          <p:cNvSpPr>
            <a:spLocks xmlns:a="http://schemas.openxmlformats.org/drawingml/2006/main" noGrp="1"/>
          </p:cNvSpPr>
          <p:nvPr/>
        </p:nvSpPr>
        <p:spPr>
          <a:xfrm xmlns:a="http://schemas.openxmlformats.org/drawingml/2006/main">
            <a:off x="704850" y="5448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E4D3A"/>
                </a:solidFill>
                <a:latin typeface="Cypress Inter"/>
                <a:ea typeface="Cypress Inter"/>
                <a:cs typeface="Cypress Inter"/>
              </a:defRPr>
            </a:pPr>
            <a:r>
              <a:rPr sz="1350" b="0">
                <a:solidFill>
                  <a:srgbClr val="1E4D3A"/>
                </a:solidFill>
                <a:latin typeface="Cypress Inter"/>
                <a:ea typeface="Cypress Inter"/>
                <a:cs typeface="Cypress Inter"/>
              </a:rPr>
              <a:t>[Source and as-of date]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06ad8533cab4254"/>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96F3FFB9-A802-4ACD-8F77-590B4FBB47E7}"/>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1E4D3A"/>
                </a:solidFill>
                <a:latin typeface="Cypress Inter"/>
                <a:ea typeface="Cypress Inter"/>
                <a:cs typeface="Cypress Inter"/>
              </a:defRPr>
            </a:pPr>
            <a:r>
              <a:rPr sz="1200" b="0">
                <a:solidFill>
                  <a:srgbClr val="1E4D3A"/>
                </a:solidFill>
                <a:latin typeface="Cypress Inter"/>
                <a:ea typeface="Cypress Inter"/>
                <a:cs typeface="Cypress Inter"/>
              </a:rPr>
              <a:t>05</a:t>
            </a:r>
          </a:p>
        </p:txBody>
      </p:sp>
    </p:spTree>
    <p:extLst>
      <p:ext uri="{BB962C8B-B14F-4D97-AF65-F5344CB8AC3E}">
        <p14:creationId xmlns:p14="http://schemas.microsoft.com/office/powerpoint/2010/main" val="1649658533"/>
      </p:ext>
    </p:extLst>
  </p:cSld>
</p:sld>
</file>

<file path=ppt/slides/slide6.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F5CF55F-B570-413C-B2AF-D65FAE5339AB}"/>
              </a:ext>
            </a:extLst>
          </p:cNvPr>
          <p:cNvSpPr>
            <a:spLocks xmlns:a="http://schemas.openxmlformats.org/drawingml/2006/main" noGrp="1"/>
          </p:cNvSpPr>
          <p:nvPr/>
        </p:nvSpPr>
        <p:spPr>
          <a:xfrm xmlns:a="http://schemas.openxmlformats.org/drawingml/2006/main">
            <a:off x="685800" y="600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0A1F16"/>
                </a:solidFill>
                <a:latin typeface="Cypress Fraunces"/>
                <a:ea typeface="Cypress Fraunces"/>
                <a:cs typeface="Cypress Fraunces"/>
              </a:defRPr>
            </a:pPr>
            <a:r>
              <a:rPr sz="3750" b="0">
                <a:solidFill>
                  <a:srgbClr val="0A1F16"/>
                </a:solidFill>
                <a:latin typeface="Cypress Fraunces"/>
                <a:ea typeface="Cypress Fraunces"/>
                <a:cs typeface="Cypress Fraunces"/>
              </a:rPr>
              <a:t>[Chart title]</a:t>
            </a:r>
          </a:p>
        </p:txBody>
      </p:sp>
      <p:sp>
        <p:nvSpPr>
          <p:cNvPr id="2" name="chart-disclosure">
            <a:extLst xmlns:a="http://schemas.openxmlformats.org/drawingml/2006/main">
              <a:ext uri="{FF2B5EF4-FFF2-40B4-BE49-F238E27FC236}">
                <a16:creationId xmlns:a16="http://schemas.microsoft.com/office/drawing/2014/main" id="{01D58BEF-5D01-4017-826D-3AC0961729B7}"/>
              </a:ext>
            </a:extLst>
          </p:cNvPr>
          <p:cNvSpPr>
            <a:spLocks xmlns:a="http://schemas.openxmlformats.org/drawingml/2006/main" noGrp="1"/>
          </p:cNvSpPr>
          <p:nvPr/>
        </p:nvSpPr>
        <p:spPr>
          <a:xfrm xmlns:a="http://schemas.openxmlformats.org/drawingml/2006/main">
            <a:off x="704850" y="1447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E4D3A"/>
                </a:solidFill>
                <a:latin typeface="Cypress Inter"/>
                <a:ea typeface="Cypress Inter"/>
                <a:cs typeface="Cypress Inter"/>
              </a:defRPr>
            </a:pPr>
            <a:r>
              <a:rPr sz="1725" b="0">
                <a:solidFill>
                  <a:srgbClr val="1E4D3A"/>
                </a:solidFill>
                <a:latin typeface="Cypress Inter"/>
                <a:ea typeface="Cypress Inter"/>
                <a:cs typeface="Cypress Inter"/>
              </a:rPr>
              <a:t>Illustrative data. Replace every value and label.</a:t>
            </a:r>
          </a:p>
        </p:txBody>
      </p:sp>
      <p:graphicFrame>
        <p:nvGraphicFramePr>
          <p:cNvPr id="9" name="Chart"/>
          <p:cNvGraphicFramePr/>
          <p:nvPr/>
        </p:nvGraphicFramePr>
        <p:xfrm>
          <a:off xmlns:a="http://schemas.openxmlformats.org/drawingml/2006/main" x="704850" y="2066925"/>
          <a:ext xmlns:a="http://schemas.openxmlformats.org/drawingml/2006/main" cx="10734675" cy="3276600"/>
        </p:xfrm>
        <a:graphic xmlns:a="http://schemas.openxmlformats.org/drawingml/2006/main">
          <a:graphicData uri="http://schemas.openxmlformats.org/drawingml/2006/chart">
            <c:chart xmlns:r="http://schemas.openxmlformats.org/officeDocument/2006/relationships" xmlns:c="http://schemas.openxmlformats.org/drawingml/2006/chart" r:id="R29fbaeffbc41413a"/>
          </a:graphicData>
        </a:graphic>
      </p:graphicFrame>
      <p:sp>
        <p:nvSpPr>
          <p:cNvPr id="4" name="chart-source">
            <a:extLst xmlns:a="http://schemas.openxmlformats.org/drawingml/2006/main">
              <a:ext uri="{FF2B5EF4-FFF2-40B4-BE49-F238E27FC236}">
                <a16:creationId xmlns:a16="http://schemas.microsoft.com/office/drawing/2014/main" id="{E5D95A7A-840B-4DEC-918F-77327881E35E}"/>
              </a:ext>
            </a:extLst>
          </p:cNvPr>
          <p:cNvSpPr>
            <a:spLocks xmlns:a="http://schemas.openxmlformats.org/drawingml/2006/main" noGrp="1"/>
          </p:cNvSpPr>
          <p:nvPr/>
        </p:nvSpPr>
        <p:spPr>
          <a:xfrm xmlns:a="http://schemas.openxmlformats.org/drawingml/2006/main">
            <a:off x="704850" y="54959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E4D3A"/>
                </a:solidFill>
                <a:latin typeface="Cypress Inter"/>
                <a:ea typeface="Cypress Inter"/>
                <a:cs typeface="Cypress Inter"/>
              </a:defRPr>
            </a:pPr>
            <a:r>
              <a:rPr sz="1350" b="0">
                <a:solidFill>
                  <a:srgbClr val="1E4D3A"/>
                </a:solidFill>
                <a:latin typeface="Cypress Inter"/>
                <a:ea typeface="Cypress Inter"/>
                <a:cs typeface="Cypress Inter"/>
              </a:rPr>
              <a:t>[Metric, units, period and source]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6c9f295a27c4e29"/>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A11D0874-F276-4450-8DE3-40BBC6C73353}"/>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1E4D3A"/>
                </a:solidFill>
                <a:latin typeface="Cypress Inter"/>
                <a:ea typeface="Cypress Inter"/>
                <a:cs typeface="Cypress Inter"/>
              </a:defRPr>
            </a:pPr>
            <a:r>
              <a:rPr sz="1200" b="0">
                <a:solidFill>
                  <a:srgbClr val="1E4D3A"/>
                </a:solidFill>
                <a:latin typeface="Cypress Inter"/>
                <a:ea typeface="Cypress Inter"/>
                <a:cs typeface="Cypress Inter"/>
              </a:rPr>
              <a:t>06</a:t>
            </a:r>
          </a:p>
        </p:txBody>
      </p:sp>
    </p:spTree>
    <p:extLst>
      <p:ext uri="{BB962C8B-B14F-4D97-AF65-F5344CB8AC3E}">
        <p14:creationId xmlns:p14="http://schemas.microsoft.com/office/powerpoint/2010/main" val="894709080"/>
      </p:ext>
    </p:extLst>
  </p:cSld>
</p:sld>
</file>

<file path=ppt/slides/slide7.xml><?xml version="1.0" encoding="utf-8"?>
<p:sld xmlns:p="http://schemas.openxmlformats.org/presentationml/2006/main">
  <p:cSld>
    <p:bg>
      <p:bgPr>
        <a:solidFill xmlns:a="http://schemas.openxmlformats.org/drawingml/2006/main">
          <a:srgbClr val="F3EDE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2BB3B93-DDE8-4AB3-A2C4-E7B47B017402}"/>
              </a:ext>
            </a:extLst>
          </p:cNvPr>
          <p:cNvSpPr>
            <a:spLocks xmlns:a="http://schemas.openxmlformats.org/drawingml/2006/main" noGrp="1"/>
          </p:cNvSpPr>
          <p:nvPr/>
        </p:nvSpPr>
        <p:spPr>
          <a:xfrm xmlns:a="http://schemas.openxmlformats.org/drawingml/2006/main">
            <a:off x="685800" y="600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0A1F16"/>
                </a:solidFill>
                <a:latin typeface="Cypress Fraunces"/>
                <a:ea typeface="Cypress Fraunces"/>
                <a:cs typeface="Cypress Fraunces"/>
              </a:defRPr>
            </a:pPr>
            <a:r>
              <a:rPr sz="3750" b="0">
                <a:solidFill>
                  <a:srgbClr val="0A1F16"/>
                </a:solidFill>
                <a:latin typeface="Cypress Fraunces"/>
                <a:ea typeface="Cypress Fraunces"/>
                <a:cs typeface="Cypress Fraunces"/>
              </a:rPr>
              <a:t>[Project or case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36b5f8215d04685">
            <a:extLst>
              <a:ext uri="{96DAC541-7B7A-43D3-8B79-37D633B846F1}">
                <asvg:svgBlip xmlns:asvg="http://schemas.microsoft.com/office/drawing/2016/SVG/main" r:embed="Rf5ecfbfbf0164519"/>
              </a:ext>
            </a:extLst>
          </a:blip>
          <a:stretch xmlns:a="http://schemas.openxmlformats.org/drawingml/2006/main"/>
        </p:blipFill>
        <p:spPr>
          <a:xfrm xmlns:a="http://schemas.openxmlformats.org/drawingml/2006/main">
            <a:off x="381000" y="2057400"/>
            <a:ext cx="6591300" cy="3707606"/>
          </a:xfrm>
          <a:prstGeom xmlns:a="http://schemas.openxmlformats.org/drawingml/2006/main" prst="rect">
            <a:avLst/>
          </a:prstGeom>
        </p:spPr>
      </p:pic>
      <p:sp>
        <p:nvSpPr>
          <p:cNvPr id="3" name="image-placeholder">
            <a:extLst xmlns:a="http://schemas.openxmlformats.org/drawingml/2006/main">
              <a:ext uri="{FF2B5EF4-FFF2-40B4-BE49-F238E27FC236}">
                <a16:creationId xmlns:a16="http://schemas.microsoft.com/office/drawing/2014/main" id="{A10AEAEB-EC45-4CFA-AE22-DBBF7F70748E}"/>
              </a:ext>
            </a:extLst>
          </p:cNvPr>
          <p:cNvSpPr>
            <a:spLocks xmlns:a="http://schemas.openxmlformats.org/drawingml/2006/main" noGrp="1"/>
          </p:cNvSpPr>
          <p:nvPr/>
        </p:nvSpPr>
        <p:spPr>
          <a:xfrm xmlns:a="http://schemas.openxmlformats.org/drawingml/2006/main">
            <a:off x="1352550" y="3495675"/>
            <a:ext cx="4600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0">
                <a:solidFill>
                  <a:srgbClr val="1E4D3A"/>
                </a:solidFill>
                <a:latin typeface="Cypress Inter"/>
                <a:ea typeface="Cypress Inter"/>
                <a:cs typeface="Cypress Inter"/>
              </a:defRPr>
            </a:pPr>
            <a:r>
              <a:rPr sz="2175" b="0">
                <a:solidFill>
                  <a:srgbClr val="1E4D3A"/>
                </a:solidFill>
                <a:latin typeface="Cypress Inter"/>
                <a:ea typeface="Cypress Inter"/>
                <a:cs typeface="Cypress Inter"/>
              </a:rPr>
              <a:t>[Add a project photograph]</a:t>
            </a:r>
          </a:p>
        </p:txBody>
      </p:sp>
      <p:sp>
        <p:nvSpPr>
          <p:cNvPr id="4" name="case-context-heading">
            <a:extLst xmlns:a="http://schemas.openxmlformats.org/drawingml/2006/main">
              <a:ext uri="{FF2B5EF4-FFF2-40B4-BE49-F238E27FC236}">
                <a16:creationId xmlns:a16="http://schemas.microsoft.com/office/drawing/2014/main" id="{76DD6BB3-1C9B-4E4E-BDA0-579A5E174D50}"/>
              </a:ext>
            </a:extLst>
          </p:cNvPr>
          <p:cNvSpPr>
            <a:spLocks xmlns:a="http://schemas.openxmlformats.org/drawingml/2006/main" noGrp="1"/>
          </p:cNvSpPr>
          <p:nvPr/>
        </p:nvSpPr>
        <p:spPr>
          <a:xfrm xmlns:a="http://schemas.openxmlformats.org/drawingml/2006/main">
            <a:off x="7524750" y="22098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E4D3A"/>
                </a:solidFill>
                <a:latin typeface="Cypress Fraunces"/>
                <a:ea typeface="Cypress Fraunces"/>
                <a:cs typeface="Cypress Fraunces"/>
              </a:defRPr>
            </a:pPr>
            <a:r>
              <a:rPr sz="2325" b="0">
                <a:solidFill>
                  <a:srgbClr val="1E4D3A"/>
                </a:solidFill>
                <a:latin typeface="Cypress Fraunces"/>
                <a:ea typeface="Cypress Fraunces"/>
                <a:cs typeface="Cypress Fraunces"/>
              </a:rPr>
              <a:t>[Context]</a:t>
            </a:r>
          </a:p>
        </p:txBody>
      </p:sp>
      <p:sp>
        <p:nvSpPr>
          <p:cNvPr id="5" name="case-context">
            <a:extLst xmlns:a="http://schemas.openxmlformats.org/drawingml/2006/main">
              <a:ext uri="{FF2B5EF4-FFF2-40B4-BE49-F238E27FC236}">
                <a16:creationId xmlns:a16="http://schemas.microsoft.com/office/drawing/2014/main" id="{3A2C7102-8E8C-46ED-9BCC-E3227B51634F}"/>
              </a:ext>
            </a:extLst>
          </p:cNvPr>
          <p:cNvSpPr>
            <a:spLocks xmlns:a="http://schemas.openxmlformats.org/drawingml/2006/main" noGrp="1"/>
          </p:cNvSpPr>
          <p:nvPr/>
        </p:nvSpPr>
        <p:spPr>
          <a:xfrm xmlns:a="http://schemas.openxmlformats.org/drawingml/2006/main">
            <a:off x="7524750" y="2847975"/>
            <a:ext cx="3857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A1F16"/>
                </a:solidFill>
                <a:latin typeface="Cypress Inter"/>
                <a:ea typeface="Cypress Inter"/>
                <a:cs typeface="Cypress Inter"/>
              </a:defRPr>
            </a:pPr>
            <a:r>
              <a:rPr sz="1950" b="0">
                <a:solidFill>
                  <a:srgbClr val="0A1F16"/>
                </a:solidFill>
                <a:latin typeface="Cypress Inter"/>
                <a:ea typeface="Cypress Inter"/>
                <a:cs typeface="Cypress Inter"/>
              </a:rPr>
              <a:t>[A short statement of the situation and the work.]</a:t>
            </a:r>
          </a:p>
        </p:txBody>
      </p:sp>
      <p:sp>
        <p:nvSpPr>
          <p:cNvPr id="6" name="case-result-heading">
            <a:extLst xmlns:a="http://schemas.openxmlformats.org/drawingml/2006/main">
              <a:ext uri="{FF2B5EF4-FFF2-40B4-BE49-F238E27FC236}">
                <a16:creationId xmlns:a16="http://schemas.microsoft.com/office/drawing/2014/main" id="{EDF97823-1042-4AA3-BC40-B8321F0C50FF}"/>
              </a:ext>
            </a:extLst>
          </p:cNvPr>
          <p:cNvSpPr>
            <a:spLocks xmlns:a="http://schemas.openxmlformats.org/drawingml/2006/main" noGrp="1"/>
          </p:cNvSpPr>
          <p:nvPr/>
        </p:nvSpPr>
        <p:spPr>
          <a:xfrm xmlns:a="http://schemas.openxmlformats.org/drawingml/2006/main">
            <a:off x="7524750" y="4448175"/>
            <a:ext cx="385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E4D3A"/>
                </a:solidFill>
                <a:latin typeface="Cypress Fraunces"/>
                <a:ea typeface="Cypress Fraunces"/>
                <a:cs typeface="Cypress Fraunces"/>
              </a:defRPr>
            </a:pPr>
            <a:r>
              <a:rPr sz="2325" b="0">
                <a:solidFill>
                  <a:srgbClr val="1E4D3A"/>
                </a:solidFill>
                <a:latin typeface="Cypress Fraunces"/>
                <a:ea typeface="Cypress Fraunces"/>
                <a:cs typeface="Cypress Fraunces"/>
              </a:rPr>
              <a:t>[Outcome]</a:t>
            </a:r>
          </a:p>
        </p:txBody>
      </p:sp>
      <p:sp>
        <p:nvSpPr>
          <p:cNvPr id="7" name="case-result">
            <a:extLst xmlns:a="http://schemas.openxmlformats.org/drawingml/2006/main">
              <a:ext uri="{FF2B5EF4-FFF2-40B4-BE49-F238E27FC236}">
                <a16:creationId xmlns:a16="http://schemas.microsoft.com/office/drawing/2014/main" id="{423D240E-8E50-4934-AF89-4389C59A9FBF}"/>
              </a:ext>
            </a:extLst>
          </p:cNvPr>
          <p:cNvSpPr>
            <a:spLocks xmlns:a="http://schemas.openxmlformats.org/drawingml/2006/main" noGrp="1"/>
          </p:cNvSpPr>
          <p:nvPr/>
        </p:nvSpPr>
        <p:spPr>
          <a:xfrm xmlns:a="http://schemas.openxmlformats.org/drawingml/2006/main">
            <a:off x="7524750" y="5000625"/>
            <a:ext cx="385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A1F16"/>
                </a:solidFill>
                <a:latin typeface="Cypress Inter"/>
                <a:ea typeface="Cypress Inter"/>
                <a:cs typeface="Cypress Inter"/>
              </a:defRPr>
            </a:pPr>
            <a:r>
              <a:rPr sz="1950" b="0">
                <a:solidFill>
                  <a:srgbClr val="0A1F16"/>
                </a:solidFill>
                <a:latin typeface="Cypress Inter"/>
                <a:ea typeface="Cypress Inter"/>
                <a:cs typeface="Cypress Inter"/>
              </a:rPr>
              <a:t>[Verified result or current status.]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fbdcbdd34874852"/>
          <a:stretch xmlns:a="http://schemas.openxmlformats.org/drawingml/2006/main"/>
        </p:blipFill>
        <p:spPr>
          <a:xfrm xmlns:a="http://schemas.openxmlformats.org/drawingml/2006/main">
            <a:off x="514350" y="5934075"/>
            <a:ext cx="2476500" cy="866775"/>
          </a:xfrm>
          <a:prstGeom xmlns:a="http://schemas.openxmlformats.org/drawingml/2006/main" prst="rect">
            <a:avLst/>
          </a:prstGeom>
        </p:spPr>
      </p:pic>
      <p:sp>
        <p:nvSpPr>
          <p:cNvPr id="9" name="page-number">
            <a:extLst xmlns:a="http://schemas.openxmlformats.org/drawingml/2006/main">
              <a:ext uri="{FF2B5EF4-FFF2-40B4-BE49-F238E27FC236}">
                <a16:creationId xmlns:a16="http://schemas.microsoft.com/office/drawing/2014/main" id="{80F8489C-51EF-48B2-84A0-73DC8240D526}"/>
              </a:ext>
            </a:extLst>
          </p:cNvPr>
          <p:cNvSpPr>
            <a:spLocks xmlns:a="http://schemas.openxmlformats.org/drawingml/2006/main" noGrp="1"/>
          </p:cNvSpPr>
          <p:nvPr/>
        </p:nvSpPr>
        <p:spPr>
          <a:xfrm xmlns:a="http://schemas.openxmlformats.org/drawingml/2006/main">
            <a:off x="11220450" y="630555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1E4D3A"/>
                </a:solidFill>
                <a:latin typeface="Cypress Inter"/>
                <a:ea typeface="Cypress Inter"/>
                <a:cs typeface="Cypress Inter"/>
              </a:defRPr>
            </a:pPr>
            <a:r>
              <a:rPr sz="1200" b="0">
                <a:solidFill>
                  <a:srgbClr val="1E4D3A"/>
                </a:solidFill>
                <a:latin typeface="Cypress Inter"/>
                <a:ea typeface="Cypress Inter"/>
                <a:cs typeface="Cypress Inter"/>
              </a:rPr>
              <a:t>07</a:t>
            </a:r>
          </a:p>
        </p:txBody>
      </p:sp>
    </p:spTree>
    <p:extLst>
      <p:ext uri="{BB962C8B-B14F-4D97-AF65-F5344CB8AC3E}">
        <p14:creationId xmlns:p14="http://schemas.microsoft.com/office/powerpoint/2010/main" val="1636194412"/>
      </p:ext>
    </p:extLst>
  </p:cSld>
</p:sld>
</file>

<file path=ppt/slides/slide8.xml><?xml version="1.0" encoding="utf-8"?>
<p:sld xmlns:p="http://schemas.openxmlformats.org/presentationml/2006/main">
  <p:cSld>
    <p:bg>
      <p:bgPr>
        <a:solidFill xmlns:a="http://schemas.openxmlformats.org/drawingml/2006/main">
          <a:srgbClr val="1E4D3A"/>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565c2d55ba745cf"/>
          <a:stretch xmlns:a="http://schemas.openxmlformats.org/drawingml/2006/main"/>
        </p:blipFill>
        <p:spPr>
          <a:xfrm xmlns:a="http://schemas.openxmlformats.org/drawingml/2006/main">
            <a:off x="542925" y="466725"/>
            <a:ext cx="3267075" cy="1143476"/>
          </a:xfrm>
          <a:prstGeom xmlns:a="http://schemas.openxmlformats.org/drawingml/2006/main" prst="rect">
            <a:avLst/>
          </a:prstGeom>
        </p:spPr>
      </p:pic>
      <p:sp>
        <p:nvSpPr>
          <p:cNvPr id="2" name="closing-heading">
            <a:extLst xmlns:a="http://schemas.openxmlformats.org/drawingml/2006/main">
              <a:ext uri="{FF2B5EF4-FFF2-40B4-BE49-F238E27FC236}">
                <a16:creationId xmlns:a16="http://schemas.microsoft.com/office/drawing/2014/main" id="{3A661FC4-857C-4A81-8839-D1D2F62E98BA}"/>
              </a:ext>
            </a:extLst>
          </p:cNvPr>
          <p:cNvSpPr>
            <a:spLocks xmlns:a="http://schemas.openxmlformats.org/drawingml/2006/main" noGrp="1"/>
          </p:cNvSpPr>
          <p:nvPr/>
        </p:nvSpPr>
        <p:spPr>
          <a:xfrm xmlns:a="http://schemas.openxmlformats.org/drawingml/2006/main">
            <a:off x="704850" y="2305050"/>
            <a:ext cx="10210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F3EDE0"/>
                </a:solidFill>
                <a:latin typeface="Cypress Fraunces"/>
                <a:ea typeface="Cypress Fraunces"/>
                <a:cs typeface="Cypress Fraunces"/>
              </a:defRPr>
            </a:pPr>
            <a:r>
              <a:rPr sz="5100" b="0">
                <a:solidFill>
                  <a:srgbClr val="F3EDE0"/>
                </a:solidFill>
                <a:latin typeface="Cypress Fraunces"/>
                <a:ea typeface="Cypress Fraunces"/>
                <a:cs typeface="Cypress Fraunces"/>
              </a:rPr>
              <a:t>[Next step]</a:t>
            </a:r>
          </a:p>
        </p:txBody>
      </p:sp>
      <p:sp>
        <p:nvSpPr>
          <p:cNvPr id="3" name="closing-action">
            <a:extLst xmlns:a="http://schemas.openxmlformats.org/drawingml/2006/main">
              <a:ext uri="{FF2B5EF4-FFF2-40B4-BE49-F238E27FC236}">
                <a16:creationId xmlns:a16="http://schemas.microsoft.com/office/drawing/2014/main" id="{2BD21B93-37EB-4E43-BB46-3982A7179961}"/>
              </a:ext>
            </a:extLst>
          </p:cNvPr>
          <p:cNvSpPr>
            <a:spLocks xmlns:a="http://schemas.openxmlformats.org/drawingml/2006/main" noGrp="1"/>
          </p:cNvSpPr>
          <p:nvPr/>
        </p:nvSpPr>
        <p:spPr>
          <a:xfrm xmlns:a="http://schemas.openxmlformats.org/drawingml/2006/main">
            <a:off x="733425" y="3609975"/>
            <a:ext cx="9877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3EDE0"/>
                </a:solidFill>
                <a:latin typeface="Cypress Inter"/>
                <a:ea typeface="Cypress Inter"/>
                <a:cs typeface="Cypress Inter"/>
              </a:defRPr>
            </a:pPr>
            <a:r>
              <a:rPr sz="2325" b="0">
                <a:solidFill>
                  <a:srgbClr val="F3EDE0"/>
                </a:solidFill>
                <a:latin typeface="Cypress Inter"/>
                <a:ea typeface="Cypress Inter"/>
                <a:cs typeface="Cypress Inter"/>
              </a:rPr>
              <a:t>[Action, owner and date]</a:t>
            </a:r>
          </a:p>
        </p:txBody>
      </p:sp>
      <p:sp>
        <p:nvSpPr>
          <p:cNvPr id="4" name="closing-contact">
            <a:extLst xmlns:a="http://schemas.openxmlformats.org/drawingml/2006/main">
              <a:ext uri="{FF2B5EF4-FFF2-40B4-BE49-F238E27FC236}">
                <a16:creationId xmlns:a16="http://schemas.microsoft.com/office/drawing/2014/main" id="{6DE15A39-64EB-41F0-9E17-9BD8AC97454A}"/>
              </a:ext>
            </a:extLst>
          </p:cNvPr>
          <p:cNvSpPr>
            <a:spLocks xmlns:a="http://schemas.openxmlformats.org/drawingml/2006/main" noGrp="1"/>
          </p:cNvSpPr>
          <p:nvPr/>
        </p:nvSpPr>
        <p:spPr>
          <a:xfrm xmlns:a="http://schemas.openxmlformats.org/drawingml/2006/main">
            <a:off x="742950" y="4972050"/>
            <a:ext cx="923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3EDE0"/>
                </a:solidFill>
                <a:latin typeface="Cypress Inter"/>
                <a:ea typeface="Cypress Inter"/>
                <a:cs typeface="Cypress Inter"/>
              </a:defRPr>
            </a:pPr>
            <a:r>
              <a:rPr sz="1800" b="0">
                <a:solidFill>
                  <a:srgbClr val="F3EDE0"/>
                </a:solidFill>
                <a:latin typeface="Cypress Inter"/>
                <a:ea typeface="Cypress Inter"/>
                <a:cs typeface="Cypress Inter"/>
              </a:rPr>
              <a:t>[Name]</a:t>
            </a:r>
          </a:p>
          <a:p xmlns:a="http://schemas.openxmlformats.org/drawingml/2006/main">
            <a:pPr algn="l">
              <a:defRPr sz="1800" b="0">
                <a:solidFill>
                  <a:srgbClr val="F3EDE0"/>
                </a:solidFill>
                <a:latin typeface="Cypress Inter"/>
                <a:ea typeface="Cypress Inter"/>
                <a:cs typeface="Cypress Inter"/>
              </a:defRPr>
            </a:pPr>
            <a:r>
              <a:rPr sz="1800" b="0">
                <a:solidFill>
                  <a:srgbClr val="F3EDE0"/>
                </a:solidFill>
                <a:latin typeface="Cypress Inter"/>
                <a:ea typeface="Cypress Inter"/>
                <a:cs typeface="Cypress Inter"/>
              </a:rPr>
              <a:t>[Verified email or phone]</a:t>
            </a:r>
          </a:p>
          <a:p xmlns:a="http://schemas.openxmlformats.org/drawingml/2006/main">
            <a:pPr algn="l">
              <a:defRPr sz="1800" b="0">
                <a:solidFill>
                  <a:srgbClr val="F3EDE0"/>
                </a:solidFill>
                <a:latin typeface="Cypress Inter"/>
                <a:ea typeface="Cypress Inter"/>
                <a:cs typeface="Cypress Inter"/>
              </a:defRPr>
            </a:pPr>
            <a:r>
              <a:rPr sz="1800" b="0">
                <a:solidFill>
                  <a:srgbClr val="F3EDE0"/>
                </a:solidFill>
                <a:latin typeface="Cypress Inter"/>
                <a:ea typeface="Cypress Inter"/>
                <a:cs typeface="Cypress Inter"/>
              </a:rPr>
              <a:t>cypresscommand.com</a:t>
            </a:r>
          </a:p>
        </p:txBody>
      </p:sp>
    </p:spTree>
    <p:extLst>
      <p:ext uri="{BB962C8B-B14F-4D97-AF65-F5344CB8AC3E}">
        <p14:creationId xmlns:p14="http://schemas.microsoft.com/office/powerpoint/2010/main" val="36279213"/>
      </p:ext>
    </p:extLst>
  </p:cSld>
</p:sld>
</file>

<file path=ppt/theme/theme1.xml><?xml version="1.0" encoding="utf-8"?>
<a:theme xmlns:a="http://schemas.openxmlformats.org/drawingml/2006/main" name="ChatGPT">
  <a:themeElements>
    <a:clrScheme name="Cypress Command 04C">
      <a:dk1>
        <a:srgbClr val="0A1F16"/>
      </a:dk1>
      <a:lt1>
        <a:srgbClr val="FFFFFF"/>
      </a:lt1>
      <a:dk2>
        <a:srgbClr val="1E4D3A"/>
      </a:dk2>
      <a:lt2>
        <a:srgbClr val="F3EDE0"/>
      </a:lt2>
      <a:accent1>
        <a:srgbClr val="1E4D3A"/>
      </a:accent1>
      <a:accent2>
        <a:srgbClr val="2F6B4E"/>
      </a:accent2>
      <a:accent3>
        <a:srgbClr val="D97706"/>
      </a:accent3>
      <a:accent4>
        <a:srgbClr val="0A1F16"/>
      </a:accent4>
      <a:accent5>
        <a:srgbClr val="F3EDE0"/>
      </a:accent5>
      <a:accent6>
        <a:srgbClr val="2F6B4E"/>
      </a:accent6>
      <a:hlink>
        <a:srgbClr val="1E4D3A"/>
      </a:hlink>
      <a:folHlink>
        <a:srgbClr val="2F6B4E"/>
      </a:folHlink>
    </a:clrScheme>
    <a:fontScheme name="Office">
      <a:majorFont>
        <a:latin typeface="Calibri Light"/>
        <a:ea typeface="Calibri Light"/>
        <a:cs typeface="Calibri Light"/>
      </a:majorFont>
      <a:minorFont>
        <a:latin typeface="Calibri"/>
        <a:ea typeface="Calibri"/>
        <a:cs typeface="Calibri"/>
      </a:minorFont>
    </a:fontScheme>
    <a:fmtScheme name="Cypress Command 04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2026-09-06T20:18:14.4830000Z</dcterms:created>
  <dcterms:modified xsi:type="dcterms:W3CDTF">2026-09-06T20:18:14.4830000Z</dcterms:modified>
</coreProperties>
</file>